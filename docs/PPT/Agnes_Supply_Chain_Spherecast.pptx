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94944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Agnes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457200" y="1965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Supply Chain Intelligence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Spherecast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3246120"/>
            <a:ext cx="4572000" cy="3657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fragmented raw material sourcing with AI-powered decision intelligence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206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4526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06040" y="4206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60604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876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606040" y="4526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4206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5488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754880" y="4526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03720" y="4206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90372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1,528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903720" y="4526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Components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41732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52704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Purchasing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83464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CPG brands buy the same raw ingredient across multiple product lines from different suppliers — with zero centralized visibility.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8688" y="1234440"/>
            <a:ext cx="27432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18688" y="1234440"/>
            <a:ext cx="27432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24528" y="141732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52704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55848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Leverage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55848" y="283464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miss bulk discounts, better lead times, and negotiation leverage worth millions annually due to siloed procurement.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1234440"/>
            <a:ext cx="27432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63056" y="1234440"/>
            <a:ext cx="27432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68896" y="141732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1527048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0216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Compliance Check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0216" y="283464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Substitutions are made without verifying quality, certifications (Organic, FDA, Halal), creating regulatory risk.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fragmented ingredients identified across 1,214 BOM appearances in the database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Agnes: 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decision-support system that safely consolidates raw material sourcing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463040"/>
            <a:ext cx="2011680" cy="333756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00200"/>
            <a:ext cx="731520" cy="7315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0992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8328" y="2907792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functionally interchangeable raw ingredients across the entire Bills-of-Materials database using cross-cluster detection.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23160" y="1463040"/>
            <a:ext cx="2011680" cy="3337560"/>
          </a:xfrm>
          <a:prstGeom prst="rect">
            <a:avLst/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63240" y="1600200"/>
            <a:ext cx="731520" cy="7315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70992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32888" y="2907792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external supplier data to verify quality and compliance constraints — FDA, Organic, Halal/Kosher, Non-GMO, USP.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17720" y="1463040"/>
            <a:ext cx="2011680" cy="3337560"/>
          </a:xfrm>
          <a:prstGeom prst="rect">
            <a:avLst/>
          </a:prstGeom>
          <a:solidFill>
            <a:srgbClr val="33415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57800" y="160020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70992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Consolidate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727448" y="2907792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rank consolidation opportunities using a multi-criteria algorithm with trust multipliers and compliance weights.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12280" y="1463040"/>
            <a:ext cx="2011680" cy="3337560"/>
          </a:xfrm>
          <a:prstGeom prst="rect">
            <a:avLst/>
          </a:prstGeom>
          <a:solidFill>
            <a:srgbClr val="33415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52360" y="160020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70992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22008" y="2907792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auditable evidence trails with [Source] citations so every recommendation can be reviewed and defended.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502920" cy="56692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2646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61 companies · 876 materials · 40 suppliers · 1,528 BOM components · structured SKU parsing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5669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83080"/>
            <a:ext cx="502920" cy="56692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830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06654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HNSW index · BM25 Okapi · all-MiniLM-L6-v2 embeddings · cross-encoder reranker · 20 regulatory docs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8595360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23160"/>
            <a:ext cx="502920" cy="56692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231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70662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LLM · structured JSON output · compliance guardrails · RAG-injected system prompt · temp 0.2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859536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63240"/>
            <a:ext cx="502920" cy="56692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632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3108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34670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scoring · Go-Fish trust tiers · compliance weights · Hungarian-algorithm bipartite matching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8595360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03320"/>
            <a:ext cx="502920" cy="56692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033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3749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 Layer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9867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UI · 5 tabs · 6 input types (text/image/audio/video/PDF/URL) · confirmation flow · session logs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343400"/>
            <a:ext cx="8595360" cy="5669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343400"/>
            <a:ext cx="502920" cy="566928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3434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8680" y="4389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Self-Awareness Layer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462686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retry · confidence tracking · RAGAS-lite evaluation · decision memory (KB/decisions.json)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Knowledge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087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2940" y="132588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4356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1945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 (20)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283464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111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· NSF · Halal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Non-GMO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783080" y="2286000"/>
            <a:ext cx="228600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3852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AA7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11680" y="1188720"/>
            <a:ext cx="15087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00300" y="132588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028" y="143560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57400" y="21945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057400" y="283464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HNSW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520440" y="2286000"/>
            <a:ext cx="228600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7588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AA7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749040" y="1188720"/>
            <a:ext cx="15087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37660" y="132588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388" y="1435608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94760" y="21945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794760" y="283464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vector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BM25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Okapi scoring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257800" y="2286000"/>
            <a:ext cx="228600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1324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AA7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0" y="1188720"/>
            <a:ext cx="15087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875020" y="132588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748" y="1435608"/>
            <a:ext cx="512064" cy="5120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32120" y="21945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Rerank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532120" y="283464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→ Top 3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6995160" y="2286000"/>
            <a:ext cx="228600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15060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AA7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223760" y="1188720"/>
            <a:ext cx="15087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612380" y="132588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2108" y="1435608"/>
            <a:ext cx="512064" cy="51206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269480" y="21945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269480" y="283464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verdict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AF6F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cites regulatory sources with [USP], [FDA 21 CFR 111], [NSF/ANSI 173] brackets for full auditability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Gradio Web UI — 5 Tabs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743200" cy="178308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Evaluate Substitution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" y="1463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evidence input types · email paste with auto-extraction · supply scenario solver · real-time progress · confirmation flow (Apply / Alternative / Reject)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960120"/>
            <a:ext cx="2743200" cy="178308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10128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General Assessment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10128" y="1463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Portfolio-wide health check · live DB analytics · KPI cards · fragmentation chart · Gemini-generated health report with score 1–10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743200" cy="178308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36208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Decision History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36208" y="1463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· last 10 verdicts · total approved/rejected · avg confidence · persistent storage in KB/decisions.json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114800" cy="178308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632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Session Logs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4747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structured JSON logging · filter by INFO/WARNING/ERROR/DEBUG · session ID tracking · downloadable log export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114800" cy="178308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30632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Database Explorer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34747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 views · company &amp; supplier catalogs · dual dropdown filters · finished-good &amp; raw-material views · no caching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Worked &amp; What Didn't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1148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What Worked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276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00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grounding in real regulatory docs — every decision is auditable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7627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guardrails prevent dangerous grade downgrades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2491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input: text, image, audio, video, PDF, URL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7355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008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Go-Fish trust tier scoring drives supplier accountability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822192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008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simulation + contingency planning (24h → Month 1)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370832"/>
            <a:ext cx="292608" cy="29260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40080" y="4343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retry, self-monitoring confidence, decision memory</a:t>
            </a:r>
            <a:endParaRPr lang="en-US" sz="1050" dirty="0"/>
          </a:p>
        </p:txBody>
      </p:sp>
      <p:sp>
        <p:nvSpPr>
          <p:cNvPr id="18" name="Shape 10"/>
          <p:cNvSpPr/>
          <p:nvPr/>
        </p:nvSpPr>
        <p:spPr>
          <a:xfrm>
            <a:off x="4800600" y="1097280"/>
            <a:ext cx="41148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4846320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What Didn't Work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627632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1600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compliance data — Playwright scrapers not fully live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176272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12080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trust scores, not real ERP/TMS integration</a:t>
            </a:r>
            <a:endParaRPr lang="en-US" sz="10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724912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21208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LLM calls — full portfolio analysis ~12 min vs 30 sec with async</a:t>
            </a:r>
            <a:endParaRPr lang="en-US" sz="10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273552"/>
            <a:ext cx="292608" cy="29260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21208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not production-grade PostgreSQL</a:t>
            </a:r>
            <a:endParaRPr lang="en-US" sz="10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3822192"/>
            <a:ext cx="292608" cy="29260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21208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supplier monitoring or cert expiration alerts</a:t>
            </a:r>
            <a:endParaRPr lang="en-US" sz="105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4370832"/>
            <a:ext cx="292608" cy="29260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212080" y="4343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multimodal extraction testing across diverse doc types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Improve —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Real Scraping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Playwright scrapers with anti-detection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75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Integrate FDA Substance Registration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NSF/USP certification DB direct queries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14300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Parallelism &amp; DB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Async/await concurrent LLM calls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975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Celery/Redis job queue — 12 min → 30 sec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Migrate SQLite → PostgreSQL with pooling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7520"/>
            <a:ext cx="41148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632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Live Monitoring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Continuous supplier status monitoring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8953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Cert expiration alerts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297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dashboard via WebSocket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17520"/>
            <a:ext cx="41148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0632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4: Security &amp; Business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493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OAuth 2.0 + role-based access control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8953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ROI calculation engine with real pricing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297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Scenario planning &amp; executive BI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Agnes database snapshot &amp; technical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060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904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5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060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9047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876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97764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234440"/>
            <a:ext cx="26060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9047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90372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2468880"/>
            <a:ext cx="26060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2491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149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10515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of Materials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91840" y="2468880"/>
            <a:ext cx="26060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72491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7764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1,528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397764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Components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17920" y="2468880"/>
            <a:ext cx="26060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72491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143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69037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SKUs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365760" y="3703320"/>
            <a:ext cx="26060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959352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5156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1,214</a:t>
            </a:r>
            <a:endParaRPr lang="en-US" sz="2200" dirty="0"/>
          </a:p>
        </p:txBody>
      </p:sp>
      <p:sp>
        <p:nvSpPr>
          <p:cNvPr id="31" name="Text 22"/>
          <p:cNvSpPr/>
          <p:nvPr/>
        </p:nvSpPr>
        <p:spPr>
          <a:xfrm>
            <a:off x="105156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Appearances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3291840" y="3703320"/>
            <a:ext cx="26060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959352"/>
            <a:ext cx="457200" cy="4572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97764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200" dirty="0"/>
          </a:p>
        </p:txBody>
      </p:sp>
      <p:sp>
        <p:nvSpPr>
          <p:cNvPr id="35" name="Text 25"/>
          <p:cNvSpPr/>
          <p:nvPr/>
        </p:nvSpPr>
        <p:spPr>
          <a:xfrm>
            <a:off x="397764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Docs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6217920" y="3703320"/>
            <a:ext cx="260604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959352"/>
            <a:ext cx="457200" cy="4572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0372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~175MB</a:t>
            </a:r>
            <a:endParaRPr lang="en-US" sz="2200" dirty="0"/>
          </a:p>
        </p:txBody>
      </p:sp>
      <p:sp>
        <p:nvSpPr>
          <p:cNvPr id="39" name="Text 28"/>
          <p:cNvSpPr/>
          <p:nvPr/>
        </p:nvSpPr>
        <p:spPr>
          <a:xfrm>
            <a:off x="69037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ML Models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858000" y="54864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Agnes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502920" y="1783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Sourcing. Safer Swaps. Auditable AI.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2468880"/>
            <a:ext cx="4114800" cy="3657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Production-ready Gradio UI with 6 evidence input types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0723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RAG grounded in real FDA, USP, NSF regulatory documents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493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Auditable evidence trails with [Source] citations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913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Self-healing, self-monitoring, self-explaining AI pipeline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4334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70%+ test coverage across scrapers and RAG engine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4663440"/>
            <a:ext cx="82296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github.com/el-musleh/supply-chain-for-spherecast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Agnes – AI Supply Chain for Spherecast</dc:title>
  <dc:subject>PptxGenJS Presentation</dc:subject>
  <dc:creator>el-musleh</dc:creator>
  <cp:lastModifiedBy>el-musleh</cp:lastModifiedBy>
  <cp:revision>1</cp:revision>
  <dcterms:created xsi:type="dcterms:W3CDTF">2026-04-19T09:08:43Z</dcterms:created>
  <dcterms:modified xsi:type="dcterms:W3CDTF">2026-04-19T09:08:43Z</dcterms:modified>
</cp:coreProperties>
</file>